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7040880" cy="1417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400" b="1">
                <a:solidFill>
                  <a:srgbClr val="F8FAFC"/>
                </a:solidFill>
                <a:latin typeface="Aptos Display"/>
              </a:rPr>
              <a:t>NGHI?N C?U X?Y D?NG GI?I PH?P</a:t>
            </a:r>
            <a:br/>
            <a:r>
              <a:rPr sz="3400" b="1">
                <a:solidFill>
                  <a:srgbClr val="F8FAFC"/>
                </a:solidFill>
                <a:latin typeface="Aptos Display"/>
              </a:rPr>
              <a:t>PH?T HI?N DDoS S? D?NG H?C M?Y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834640"/>
            <a:ext cx="65836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0">
                <a:solidFill>
                  <a:srgbClr val="AAB4C8"/>
                </a:solidFill>
                <a:latin typeface="Aptos"/>
              </a:rPr>
              <a:t>?? ?n t?t nghi?p ng?nh C?ng ngh? th?ng tin / An to?n th?ng tin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5240" y="1325880"/>
            <a:ext cx="3337560" cy="141732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294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35240" y="1325880"/>
            <a:ext cx="64008" cy="1417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19" y="1472184"/>
            <a:ext cx="30175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1">
                <a:solidFill>
                  <a:srgbClr val="F8FAFC"/>
                </a:solidFill>
                <a:latin typeface="Aptos"/>
              </a:rPr>
              <a:t>M? h?nh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19" y="1828800"/>
            <a:ext cx="301752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AAB4C8"/>
                </a:solidFill>
                <a:latin typeface="Aptos"/>
              </a:rPr>
              <a:t>Hai m?y ?o: Attacker sinh l?u l??ng ki?m th?, m?y n?n nh?n ch?y IDS/IPS agent, dashboard v? firewall.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2971800"/>
            <a:ext cx="3337560" cy="123444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294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35240" y="2971800"/>
            <a:ext cx="64008" cy="1234440"/>
          </a:xfrm>
          <a:prstGeom prst="rect">
            <a:avLst/>
          </a:prstGeom>
          <a:solidFill>
            <a:srgbClr val="35D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19" y="3118104"/>
            <a:ext cx="30175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1">
                <a:solidFill>
                  <a:srgbClr val="F8FAFC"/>
                </a:solidFill>
                <a:latin typeface="Aptos"/>
              </a:rPr>
              <a:t>C?ng ngh? ch?nh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19" y="3474720"/>
            <a:ext cx="301752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AAB4C8"/>
                </a:solidFill>
                <a:latin typeface="Aptos"/>
              </a:rPr>
              <a:t>CICDDoS2019 ? CICFlowMeter ? Scikit-learn/XGBoost ? Streamlit ? iptables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989320"/>
            <a:ext cx="8229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AAB4C8"/>
                </a:solidFill>
                <a:latin typeface="Aptos"/>
              </a:rPr>
              <a:t>Sinh vi?n: [?i?n t?n]    |    GVHD: [?i?n t?n]    |    N?m: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85953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F8FAFC"/>
                </a:solidFill>
                <a:latin typeface="Aptos Display"/>
              </a:rPr>
              <a:t>L? do ch?n ?? t?i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41832"/>
            <a:ext cx="86868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AAB4C8"/>
                </a:solidFill>
                <a:latin typeface="Aptos"/>
              </a:rPr>
              <a:t>DDoS v?n l? r?i ro l?n ??i v?i t?nh s?n s?ng c?a h? th?ng m?ng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61872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0">
                <a:solidFill>
                  <a:srgbClr val="64748B"/>
                </a:solidFill>
                <a:latin typeface="Aptos"/>
              </a:rPr>
              <a:t>DDoS IDS/IPS s? d?ng h?c m?y  | 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3108960" cy="146304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294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37360"/>
            <a:ext cx="64008" cy="1463040"/>
          </a:xfrm>
          <a:prstGeom prst="rect">
            <a:avLst/>
          </a:prstGeom>
          <a:solidFill>
            <a:srgbClr val="FF3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83664"/>
            <a:ext cx="27889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1">
                <a:solidFill>
                  <a:srgbClr val="F8FAFC"/>
                </a:solidFill>
                <a:latin typeface="Aptos"/>
              </a:rPr>
              <a:t>V?n ??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40280"/>
            <a:ext cx="2788920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AAB4C8"/>
                </a:solidFill>
                <a:latin typeface="Aptos"/>
              </a:rPr>
              <a:t>DDoS t?o l?u l??ng l?n ho?c b?t th??ng l?m c?n ki?t t?i nguy?n d?ch v? v? h? t?ng.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737360"/>
            <a:ext cx="3108960" cy="146304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294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737360"/>
            <a:ext cx="64008" cy="1463040"/>
          </a:xfrm>
          <a:prstGeom prst="rect">
            <a:avLst/>
          </a:prstGeom>
          <a:solidFill>
            <a:srgbClr val="FFB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883664"/>
            <a:ext cx="27889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1">
                <a:solidFill>
                  <a:srgbClr val="F8FAFC"/>
                </a:solidFill>
                <a:latin typeface="Aptos"/>
              </a:rPr>
              <a:t>H?n ch? rule-based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240280"/>
            <a:ext cx="2788920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AAB4C8"/>
                </a:solidFill>
                <a:latin typeface="Aptos"/>
              </a:rPr>
              <a:t>Lu?t t?nh kh? th?ch nghi v?i bi?n th? t?n c?ng m?i v? d? ph?t sinh c?nh b?o gi?.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1737360"/>
            <a:ext cx="3108960" cy="146304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294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79" y="1737360"/>
            <a:ext cx="64008" cy="14630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59" y="1883664"/>
            <a:ext cx="27889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1">
                <a:solidFill>
                  <a:srgbClr val="F8FAFC"/>
                </a:solidFill>
                <a:latin typeface="Aptos"/>
              </a:rPr>
              <a:t>H??ng ti?p c?n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59" y="2240280"/>
            <a:ext cx="2788920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AAB4C8"/>
                </a:solidFill>
                <a:latin typeface="Aptos"/>
              </a:rPr>
              <a:t>H?c m?y khai th?c ??c tr?ng flow ?? ph?n bi?t h?nh vi b?nh th??ng v? t?n c?ng.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886200"/>
            <a:ext cx="9601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F8FAFC"/>
                </a:solidFill>
                <a:latin typeface="Aptos"/>
              </a:rPr>
              <a:t>? C?n ki?m ch?ng m? h?nh trong m?i tr??ng g?n th?c t?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8FAFC"/>
                </a:solidFill>
                <a:latin typeface="Aptos"/>
              </a:rPr>
              <a:t>? C?n c? log, c?nh b?o v? ph?n ?ng ng?n ch?n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8FAFC"/>
                </a:solidFill>
                <a:latin typeface="Aptos"/>
              </a:rPr>
              <a:t>? Demo ph?i d? tri?n khai, d? quan s?t khi b?o v?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85953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F8FAFC"/>
                </a:solidFill>
                <a:latin typeface="Aptos Display"/>
              </a:rPr>
              <a:t>M?c ti?u ?? t?i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41832"/>
            <a:ext cx="86868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AAB4C8"/>
                </a:solidFill>
                <a:latin typeface="Aptos"/>
              </a:rPr>
              <a:t>T? hu?n luy?n m? h?nh ??n h? th?ng demo IDS/IPS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61872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0">
                <a:solidFill>
                  <a:srgbClr val="64748B"/>
                </a:solidFill>
                <a:latin typeface="Aptos"/>
              </a:rPr>
              <a:t>DDoS IDS/IPS s? d?ng h?c m?y  | 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83080"/>
            <a:ext cx="2436876" cy="96012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294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093976"/>
            <a:ext cx="2290572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Nghi?n c?u DDoS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32404" y="2093976"/>
            <a:ext cx="20116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000" b="1">
                <a:solidFill>
                  <a:srgbClr val="00D4FF"/>
                </a:solidFill>
                <a:latin typeface="Aptos"/>
              </a:rPr>
              <a:t>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4428" y="1783080"/>
            <a:ext cx="2436876" cy="96012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294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97580" y="2093976"/>
            <a:ext cx="2290572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Train m? h?nh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33872" y="2093976"/>
            <a:ext cx="20116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000" b="1">
                <a:solidFill>
                  <a:srgbClr val="00D4FF"/>
                </a:solidFill>
                <a:latin typeface="Aptos"/>
              </a:rPr>
              <a:t>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25896" y="1783080"/>
            <a:ext cx="2436876" cy="96012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294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9048" y="2093976"/>
            <a:ext cx="2290572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T?ch h?p IDS/IPS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5340" y="2093976"/>
            <a:ext cx="20116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000" b="1">
                <a:solidFill>
                  <a:srgbClr val="00D4FF"/>
                </a:solidFill>
                <a:latin typeface="Aptos"/>
              </a:rPr>
              <a:t>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27364" y="1783080"/>
            <a:ext cx="2436876" cy="96012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294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00516" y="2093976"/>
            <a:ext cx="2290572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Demo &amp; ??nh gi?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337560"/>
            <a:ext cx="9692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F8FAFC"/>
                </a:solidFill>
                <a:latin typeface="Aptos"/>
              </a:rPr>
              <a:t>? Ph?n lo?i l?u l??ng Benign v? c?c d?ng DDoS ph? bi?n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8FAFC"/>
                </a:solidFill>
                <a:latin typeface="Aptos"/>
              </a:rPr>
              <a:t>? So s?nh Random Forest, KNN, Extra Trees, MLP v? XGBoost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8FAFC"/>
                </a:solidFill>
                <a:latin typeface="Aptos"/>
              </a:rPr>
              <a:t>? B?t traffic th?t, tr?ch xu?t flow v? d? ?o?n b?ng selected_model.pkl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8FAFC"/>
                </a:solidFill>
                <a:latin typeface="Aptos"/>
              </a:rPr>
              <a:t>? Hi?n th? dashboard, popup c?nh b?o v? ch?n IP attacker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85953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F8FAFC"/>
                </a:solidFill>
                <a:latin typeface="Aptos Display"/>
              </a:rPr>
              <a:t>Ph?m vi v? h??ng ti?p c?n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41832"/>
            <a:ext cx="86868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AAB4C8"/>
                </a:solidFill>
                <a:latin typeface="Aptos"/>
              </a:rPr>
              <a:t>T?p trung v?o h? th?ng lab c? ki?m so?t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61872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0">
                <a:solidFill>
                  <a:srgbClr val="64748B"/>
                </a:solidFill>
                <a:latin typeface="Aptos"/>
              </a:rPr>
              <a:t>DDoS IDS/IPS s? d?ng h?c m?y  | 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3017520" cy="128016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294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37360"/>
            <a:ext cx="64008" cy="12801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83664"/>
            <a:ext cx="269747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1">
                <a:solidFill>
                  <a:srgbClr val="F8FAFC"/>
                </a:solidFill>
                <a:latin typeface="Aptos"/>
              </a:rPr>
              <a:t>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40280"/>
            <a:ext cx="2697479" cy="6857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AAB4C8"/>
                </a:solidFill>
                <a:latin typeface="Aptos"/>
              </a:rPr>
              <a:t>CICDDoS2019 d?ng flow feature, g?m Benign v? c?c l?p DDoS.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737360"/>
            <a:ext cx="3017520" cy="128016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294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737360"/>
            <a:ext cx="64008" cy="1280160"/>
          </a:xfrm>
          <a:prstGeom prst="rect">
            <a:avLst/>
          </a:prstGeom>
          <a:solidFill>
            <a:srgbClr val="35D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883664"/>
            <a:ext cx="269747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1">
                <a:solidFill>
                  <a:srgbClr val="F8FAFC"/>
                </a:solidFill>
                <a:latin typeface="Aptos"/>
              </a:rPr>
              <a:t>B?i to?n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240280"/>
            <a:ext cx="2697479" cy="6857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AAB4C8"/>
                </a:solidFill>
                <a:latin typeface="Aptos"/>
              </a:rPr>
              <a:t>Ph?n lo?i ?a l?p: Benign, TCP SYN, UDP, UDP-Lag, LDAP, MSSQL, NetBIOS.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737360"/>
            <a:ext cx="3017520" cy="128016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294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737360"/>
            <a:ext cx="64008" cy="1280160"/>
          </a:xfrm>
          <a:prstGeom prst="rect">
            <a:avLst/>
          </a:prstGeom>
          <a:solidFill>
            <a:srgbClr val="FFB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883664"/>
            <a:ext cx="269747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1">
                <a:solidFill>
                  <a:srgbClr val="F8FAFC"/>
                </a:solidFill>
                <a:latin typeface="Aptos"/>
              </a:rPr>
              <a:t>Demo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240280"/>
            <a:ext cx="2697479" cy="6857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AAB4C8"/>
                </a:solidFill>
                <a:latin typeface="Aptos"/>
              </a:rPr>
              <a:t>Hai m?y ?o trong m?ng host-only: Attacker v? m?y n?n nh?n.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794760"/>
            <a:ext cx="9509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F8FAFC"/>
                </a:solidFill>
                <a:latin typeface="Aptos"/>
              </a:rPr>
              <a:t>? Kh?ng th? nghi?m tr?n Internet th?t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8FAFC"/>
                </a:solidFill>
                <a:latin typeface="Aptos"/>
              </a:rPr>
              <a:t>? Kh?ng ph? thu?c SDN/Ryu/OpenFlow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8FAFC"/>
                </a:solidFill>
                <a:latin typeface="Aptos"/>
              </a:rPr>
              <a:t>? ?u ti?n ch?ng minh pipeline ph?t hi?n v? ph?n ?ng t? ??ng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85953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F8FAFC"/>
                </a:solidFill>
                <a:latin typeface="Aptos Display"/>
              </a:rPr>
              <a:t>Ki?n tr?c h? th?ng ?? xu?t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41832"/>
            <a:ext cx="86868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AAB4C8"/>
                </a:solidFill>
                <a:latin typeface="Aptos"/>
              </a:rPr>
              <a:t>Lu?ng x? l? t? attacker ??n dashboard v? firewall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61872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0">
                <a:solidFill>
                  <a:srgbClr val="64748B"/>
                </a:solidFill>
                <a:latin typeface="Aptos"/>
              </a:rPr>
              <a:t>DDoS IDS/IPS s? d?ng h?c m?y  | 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1691639" cy="96012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294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139696"/>
            <a:ext cx="1545336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Attacker VM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12848" y="2139696"/>
            <a:ext cx="20116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000" b="1">
                <a:solidFill>
                  <a:srgbClr val="00D4FF"/>
                </a:solidFill>
                <a:latin typeface="Aptos"/>
              </a:rPr>
              <a:t>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04872" y="1828800"/>
            <a:ext cx="1691639" cy="96012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294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78024" y="2139696"/>
            <a:ext cx="1545336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Traffic DDoS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79" y="2139696"/>
            <a:ext cx="20116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000" b="1">
                <a:solidFill>
                  <a:srgbClr val="00D4FF"/>
                </a:solidFill>
                <a:latin typeface="Aptos"/>
              </a:rPr>
              <a:t>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1103" y="1828800"/>
            <a:ext cx="1691639" cy="96012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294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34255" y="2139696"/>
            <a:ext cx="1545336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M?y n?n nh?n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5311" y="2139696"/>
            <a:ext cx="20116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000" b="1">
                <a:solidFill>
                  <a:srgbClr val="00D4FF"/>
                </a:solidFill>
                <a:latin typeface="Aptos"/>
              </a:rPr>
              <a:t>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17336" y="1828800"/>
            <a:ext cx="1691639" cy="96012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294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0488" y="2139696"/>
            <a:ext cx="1545336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CICFlowMeter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81544" y="2139696"/>
            <a:ext cx="20116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000" b="1">
                <a:solidFill>
                  <a:srgbClr val="00D4FF"/>
                </a:solidFill>
                <a:latin typeface="Aptos"/>
              </a:rPr>
              <a:t>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73567" y="1828800"/>
            <a:ext cx="1691639" cy="96012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294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9" y="2139696"/>
            <a:ext cx="1545336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ML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37776" y="2139696"/>
            <a:ext cx="20116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000" b="1">
                <a:solidFill>
                  <a:srgbClr val="00D4FF"/>
                </a:solidFill>
                <a:latin typeface="Aptos"/>
              </a:rPr>
              <a:t>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29799" y="1828800"/>
            <a:ext cx="1691639" cy="96012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294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02951" y="2139696"/>
            <a:ext cx="1545336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Log/Firewall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011680" y="3246120"/>
            <a:ext cx="8046720" cy="1828800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294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176272" y="3410712"/>
            <a:ext cx="7717536" cy="1499616"/>
          </a:xfrm>
          <a:prstGeom prst="rect">
            <a:avLst/>
          </a:prstGeom>
          <a:noFill/>
          <a:ln w="15240">
            <a:solidFill>
              <a:srgbClr val="355D8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86000" y="3977639"/>
            <a:ext cx="74980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0">
                <a:solidFill>
                  <a:srgbClr val="AAB4C8"/>
                </a:solidFill>
                <a:latin typeface="Aptos"/>
              </a:rPr>
              <a:t>Ch?n s? ?? ki?n tr?c t?ng th?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85953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F8FAFC"/>
                </a:solidFill>
                <a:latin typeface="Aptos Display"/>
              </a:rPr>
              <a:t>B? d? li?u CICDDoS2019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41832"/>
            <a:ext cx="86868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AAB4C8"/>
                </a:solidFill>
                <a:latin typeface="Aptos"/>
              </a:rPr>
              <a:t>Ngu?n d? li?u chu?n cho b?i to?n ph?t hi?n DDoS b?ng h?c m?y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61872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0">
                <a:solidFill>
                  <a:srgbClr val="64748B"/>
                </a:solidFill>
                <a:latin typeface="Aptos"/>
              </a:rPr>
              <a:t>DDoS IDS/IPS s? d?ng h?c m?y  | 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5120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F8FAFC"/>
                </a:solidFill>
                <a:latin typeface="Aptos"/>
              </a:rPr>
              <a:t>? M?i d?ng d? li?u ??i di?n cho m?t network flow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8FAFC"/>
                </a:solidFill>
                <a:latin typeface="Aptos"/>
              </a:rPr>
              <a:t>? ??c tr?ng g?m s? g?i, s? byte, th?i l??ng flow, c? TCP, t?c ?? g?i v? IAT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8FAFC"/>
                </a:solidFill>
                <a:latin typeface="Aptos"/>
              </a:rPr>
              <a:t>? Ph? h?p v?i c? ch? tr?ch xu?t feature b?ng CICFlowMeter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8FAFC"/>
                </a:solidFill>
                <a:latin typeface="Aptos"/>
              </a:rPr>
              <a:t>? C? nhi?u l?p t?n c?ng DDoS ph? bi?n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45920"/>
            <a:ext cx="4206240" cy="2743200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294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65392" y="1810512"/>
            <a:ext cx="3877055" cy="2414016"/>
          </a:xfrm>
          <a:prstGeom prst="rect">
            <a:avLst/>
          </a:prstGeom>
          <a:noFill/>
          <a:ln w="15240">
            <a:solidFill>
              <a:srgbClr val="355D8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834639"/>
            <a:ext cx="3657599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0">
                <a:solidFill>
                  <a:srgbClr val="AAB4C8"/>
                </a:solidFill>
                <a:latin typeface="Aptos"/>
              </a:rPr>
              <a:t>Ch?n bi?u ?? ph?n b? l?p d? li?u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4572000"/>
            <a:ext cx="1005840" cy="320040"/>
          </a:xfrm>
          <a:prstGeom prst="roundRect">
            <a:avLst/>
          </a:prstGeom>
          <a:solidFill>
            <a:srgbClr val="35D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645152"/>
            <a:ext cx="100584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Benign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0" y="4572000"/>
            <a:ext cx="1005840" cy="320040"/>
          </a:xfrm>
          <a:prstGeom prst="roundRect">
            <a:avLst/>
          </a:prstGeom>
          <a:solidFill>
            <a:srgbClr val="FF3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4645152"/>
            <a:ext cx="100584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TCP SYN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66160" y="4572000"/>
            <a:ext cx="1005840" cy="320040"/>
          </a:xfrm>
          <a:prstGeom prst="roundRect">
            <a:avLst/>
          </a:prstGeom>
          <a:solidFill>
            <a:srgbClr val="FFB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4645152"/>
            <a:ext cx="100584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UDP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" y="5074920"/>
            <a:ext cx="1005840" cy="32004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148072"/>
            <a:ext cx="100584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LDAP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94560" y="5074920"/>
            <a:ext cx="1005840" cy="32004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94560" y="5148072"/>
            <a:ext cx="100584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MSSQL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29000" y="5074920"/>
            <a:ext cx="1005840" cy="32004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29000" y="5148072"/>
            <a:ext cx="100584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NetBIOS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85953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F8FAFC"/>
                </a:solidFill>
                <a:latin typeface="Aptos Display"/>
              </a:rPr>
              <a:t>Quy tr?nh hu?n luy?n m? h?nh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41832"/>
            <a:ext cx="86868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AAB4C8"/>
                </a:solidFill>
                <a:latin typeface="Aptos"/>
              </a:rPr>
              <a:t>Ki?m so?t leakage v? ??nh gi? kh? n?ng t?ng qu?t h?a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61872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0">
                <a:solidFill>
                  <a:srgbClr val="64748B"/>
                </a:solidFill>
                <a:latin typeface="Aptos"/>
              </a:rPr>
              <a:t>DDoS IDS/IPS s? d?ng h?c m?y  |  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1691639" cy="96012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294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048255"/>
            <a:ext cx="1545336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Load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12848" y="2048255"/>
            <a:ext cx="20116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000" b="1">
                <a:solidFill>
                  <a:srgbClr val="00D4FF"/>
                </a:solidFill>
                <a:latin typeface="Aptos"/>
              </a:rPr>
              <a:t>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04872" y="1737360"/>
            <a:ext cx="1691639" cy="96012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294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78024" y="2048255"/>
            <a:ext cx="1545336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Cleaning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79" y="2048255"/>
            <a:ext cx="20116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000" b="1">
                <a:solidFill>
                  <a:srgbClr val="00D4FF"/>
                </a:solidFill>
                <a:latin typeface="Aptos"/>
              </a:rPr>
              <a:t>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1103" y="1737360"/>
            <a:ext cx="1691639" cy="96012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294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34255" y="2048255"/>
            <a:ext cx="1545336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Remove leakage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5311" y="2048255"/>
            <a:ext cx="20116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000" b="1">
                <a:solidFill>
                  <a:srgbClr val="00D4FF"/>
                </a:solidFill>
                <a:latin typeface="Aptos"/>
              </a:rPr>
              <a:t>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17336" y="1737360"/>
            <a:ext cx="1691639" cy="96012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294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0488" y="2048255"/>
            <a:ext cx="1545336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Stratified split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81544" y="2048255"/>
            <a:ext cx="20116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000" b="1">
                <a:solidFill>
                  <a:srgbClr val="00D4FF"/>
                </a:solidFill>
                <a:latin typeface="Aptos"/>
              </a:rPr>
              <a:t>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73567" y="1737360"/>
            <a:ext cx="1691639" cy="96012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294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9" y="2048255"/>
            <a:ext cx="1545336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Train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37776" y="2048255"/>
            <a:ext cx="20116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000" b="1">
                <a:solidFill>
                  <a:srgbClr val="00D4FF"/>
                </a:solidFill>
                <a:latin typeface="Aptos"/>
              </a:rPr>
              <a:t>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29799" y="1737360"/>
            <a:ext cx="1691639" cy="96012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294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02951" y="2048255"/>
            <a:ext cx="1545336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Evaluate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3429000"/>
            <a:ext cx="4663440" cy="132588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294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" y="3429000"/>
            <a:ext cx="64008" cy="1325880"/>
          </a:xfrm>
          <a:prstGeom prst="rect">
            <a:avLst/>
          </a:prstGeom>
          <a:solidFill>
            <a:srgbClr val="FF3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3575304"/>
            <a:ext cx="43434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1">
                <a:solidFill>
                  <a:srgbClr val="F8FAFC"/>
                </a:solidFill>
                <a:latin typeface="Aptos"/>
              </a:rPr>
              <a:t>Nguy?n t?c ch?ng leakage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3931920"/>
            <a:ext cx="4343400" cy="7315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AAB4C8"/>
                </a:solidFill>
                <a:latin typeface="Aptos"/>
              </a:rPr>
              <a:t>Kh?ng ??a Label v?o X; kh?ng fit scaler tr??c split; lo?i b? Flow ID, IP, Port, Timestamp n?u g?y h?c theo ??nh danh.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429000"/>
            <a:ext cx="4663440" cy="132588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294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0" y="3429000"/>
            <a:ext cx="64008" cy="13258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3575304"/>
            <a:ext cx="43434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1">
                <a:solidFill>
                  <a:srgbClr val="F8FAFC"/>
                </a:solidFill>
                <a:latin typeface="Aptos"/>
              </a:rPr>
              <a:t>??nh gi? m? h?nh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3931920"/>
            <a:ext cx="4343400" cy="7315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AAB4C8"/>
                </a:solidFill>
                <a:latin typeface="Aptos"/>
              </a:rPr>
              <a:t>D?ng Accuracy, Balanced Accuracy, Macro F1, Weighted F1, ROC-AUC, confusion matrix v? classification report.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85953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F8FAFC"/>
                </a:solidFill>
                <a:latin typeface="Aptos Display"/>
              </a:rPr>
              <a:t>C?c thu?t to?n s? d?ng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41832"/>
            <a:ext cx="86868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AAB4C8"/>
                </a:solidFill>
                <a:latin typeface="Aptos"/>
              </a:rPr>
              <a:t>So s?nh nhi?u m? h?nh ?? ch?n ph??ng ?n ?n ??nh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61872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0">
                <a:solidFill>
                  <a:srgbClr val="64748B"/>
                </a:solidFill>
                <a:latin typeface="Aptos"/>
              </a:rPr>
              <a:t>DDoS IDS/IPS s? d?ng h?c m?y  | 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246120" cy="105156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294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45920"/>
            <a:ext cx="64008" cy="10515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92224"/>
            <a:ext cx="292607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1">
                <a:solidFill>
                  <a:srgbClr val="F8FAFC"/>
                </a:solidFill>
                <a:latin typeface="Aptos"/>
              </a:rPr>
              <a:t>Random Forest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48840"/>
            <a:ext cx="2926079" cy="4571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AAB4C8"/>
                </a:solidFill>
                <a:latin typeface="Aptos"/>
              </a:rPr>
              <a:t>M?nh v?i d? li?u b?ng, d? gi?i th?ch feature importance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645920"/>
            <a:ext cx="3246120" cy="105156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294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645920"/>
            <a:ext cx="64008" cy="10515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792224"/>
            <a:ext cx="292607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1">
                <a:solidFill>
                  <a:srgbClr val="F8FAFC"/>
                </a:solidFill>
                <a:latin typeface="Aptos"/>
              </a:rPr>
              <a:t>KNN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148840"/>
            <a:ext cx="2926079" cy="4571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AAB4C8"/>
                </a:solidFill>
                <a:latin typeface="Aptos"/>
              </a:rPr>
              <a:t>Baseline ??n gi?n, nh?y v?i kho?ng c?ch v? scale feature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645920"/>
            <a:ext cx="3246120" cy="105156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294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645920"/>
            <a:ext cx="64008" cy="10515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792224"/>
            <a:ext cx="292607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1">
                <a:solidFill>
                  <a:srgbClr val="F8FAFC"/>
                </a:solidFill>
                <a:latin typeface="Aptos"/>
              </a:rPr>
              <a:t>Extra Trees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148840"/>
            <a:ext cx="2926079" cy="4571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AAB4C8"/>
                </a:solidFill>
                <a:latin typeface="Aptos"/>
              </a:rPr>
              <a:t>Hu?n luy?n nhanh, gi?m variance nh? ng?u nhi?n h?a m?nh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154680"/>
            <a:ext cx="3246120" cy="105156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294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154680"/>
            <a:ext cx="64008" cy="10515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300984"/>
            <a:ext cx="292607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1">
                <a:solidFill>
                  <a:srgbClr val="F8FAFC"/>
                </a:solidFill>
                <a:latin typeface="Aptos"/>
              </a:rPr>
              <a:t>MLP Classifier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657600"/>
            <a:ext cx="2926079" cy="4571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AAB4C8"/>
                </a:solidFill>
                <a:latin typeface="Aptos"/>
              </a:rPr>
              <a:t>M? h?nh phi tuy?n, c?n ki?m so?t overfitting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3154680"/>
            <a:ext cx="3246120" cy="105156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294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34840" y="3154680"/>
            <a:ext cx="64008" cy="1051560"/>
          </a:xfrm>
          <a:prstGeom prst="rect">
            <a:avLst/>
          </a:prstGeom>
          <a:solidFill>
            <a:srgbClr val="FF3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20" y="3300984"/>
            <a:ext cx="292607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1">
                <a:solidFill>
                  <a:srgbClr val="F8FAFC"/>
                </a:solidFill>
                <a:latin typeface="Aptos"/>
              </a:rPr>
              <a:t>XGBoost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3657600"/>
            <a:ext cx="2926079" cy="4571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AAB4C8"/>
                </a:solidFill>
                <a:latin typeface="Aptos"/>
              </a:rPr>
              <a:t>Boosting m?nh, th??ng ??t hi?u n?ng cao tr?n tabular 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85953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F8FAFC"/>
                </a:solidFill>
                <a:latin typeface="Aptos Display"/>
              </a:rPr>
              <a:t>Ch? s? ??nh gi?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41832"/>
            <a:ext cx="86868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AAB4C8"/>
                </a:solidFill>
                <a:latin typeface="Aptos"/>
              </a:rPr>
              <a:t>Kh?ng ch? d?ng Accuracy v? d? li?u c? m?t c?n b?ng l?p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61872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0">
                <a:solidFill>
                  <a:srgbClr val="64748B"/>
                </a:solidFill>
                <a:latin typeface="Aptos"/>
              </a:rPr>
              <a:t>DDoS IDS/IPS s? d?ng h?c m?y  | 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2971800" cy="114300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294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45920"/>
            <a:ext cx="64008" cy="1143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92224"/>
            <a:ext cx="265176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1">
                <a:solidFill>
                  <a:srgbClr val="F8FAFC"/>
                </a:solidFill>
                <a:latin typeface="Aptos"/>
              </a:rPr>
              <a:t>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48840"/>
            <a:ext cx="265176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AAB4C8"/>
                </a:solidFill>
                <a:latin typeface="Aptos"/>
              </a:rPr>
              <a:t>T? l? d? ?o?n ??ng t?ng th?, d? b? ??nh l?a khi class l?ch.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645920"/>
            <a:ext cx="2971800" cy="114300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294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1645920"/>
            <a:ext cx="64008" cy="1143000"/>
          </a:xfrm>
          <a:prstGeom prst="rect">
            <a:avLst/>
          </a:prstGeom>
          <a:solidFill>
            <a:srgbClr val="35D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1792224"/>
            <a:ext cx="265176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1">
                <a:solidFill>
                  <a:srgbClr val="F8FAFC"/>
                </a:solidFill>
                <a:latin typeface="Aptos"/>
              </a:rPr>
              <a:t>Precision / Recall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148840"/>
            <a:ext cx="265176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AAB4C8"/>
                </a:solidFill>
                <a:latin typeface="Aptos"/>
              </a:rPr>
              <a:t>??nh gi? c?nh b?o gi? v? kh? n?ng ph?t hi?n t?n c?ng.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645920"/>
            <a:ext cx="2971800" cy="114300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294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645920"/>
            <a:ext cx="64008" cy="1143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792224"/>
            <a:ext cx="265176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1">
                <a:solidFill>
                  <a:srgbClr val="F8FAFC"/>
                </a:solidFill>
                <a:latin typeface="Aptos"/>
              </a:rPr>
              <a:t>F1-score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148840"/>
            <a:ext cx="265176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AAB4C8"/>
                </a:solidFill>
                <a:latin typeface="Aptos"/>
              </a:rPr>
              <a:t>C?n b?ng precision v? recall, ph? h?p khi c?n so s?nh model.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645920" y="3474720"/>
            <a:ext cx="3886200" cy="123444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294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645920" y="3474720"/>
            <a:ext cx="64008" cy="1234440"/>
          </a:xfrm>
          <a:prstGeom prst="rect">
            <a:avLst/>
          </a:prstGeom>
          <a:solidFill>
            <a:srgbClr val="FFB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0" y="3621024"/>
            <a:ext cx="356616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1">
                <a:solidFill>
                  <a:srgbClr val="F8FAFC"/>
                </a:solidFill>
                <a:latin typeface="Aptos"/>
              </a:rPr>
              <a:t>Macro / Weighted F1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3977639"/>
            <a:ext cx="356616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AAB4C8"/>
                </a:solidFill>
                <a:latin typeface="Aptos"/>
              </a:rPr>
              <a:t>Macro F1 ph?n ?nh l?p thi?u s?; Weighted F1 ph?n ?nh hi?u n?ng theo s? m?u.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3474720"/>
            <a:ext cx="3886200" cy="123444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294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3474720"/>
            <a:ext cx="64008" cy="1234440"/>
          </a:xfrm>
          <a:prstGeom prst="rect">
            <a:avLst/>
          </a:prstGeom>
          <a:solidFill>
            <a:srgbClr val="FF3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3621024"/>
            <a:ext cx="356616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1">
                <a:solidFill>
                  <a:srgbClr val="F8FAFC"/>
                </a:solidFill>
                <a:latin typeface="Aptos"/>
              </a:rPr>
              <a:t>ROC-AUC &amp; False Alarm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977639"/>
            <a:ext cx="356616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AAB4C8"/>
                </a:solidFill>
                <a:latin typeface="Aptos"/>
              </a:rPr>
              <a:t>??nh gi? kh? n?ng ph?n bi?t l?p v? m?c c?nh b?o nh?m l?u l??ng b?nh th??ng.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85953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F8FAFC"/>
                </a:solidFill>
                <a:latin typeface="Aptos Display"/>
              </a:rPr>
              <a:t>K?t qu? hu?n luy?n v? l?a ch?n m? h?nh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41832"/>
            <a:ext cx="86868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AAB4C8"/>
                </a:solidFill>
                <a:latin typeface="Aptos"/>
              </a:rPr>
              <a:t>?i?n s? li?u th?t t? qu? tr?nh train/evaluate c?a d? ?n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61872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0">
                <a:solidFill>
                  <a:srgbClr val="64748B"/>
                </a:solidFill>
                <a:latin typeface="Aptos"/>
              </a:rPr>
              <a:t>DDoS IDS/IPS s? d?ng h?c m?y  | 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00200"/>
            <a:ext cx="10424160" cy="2514600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294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87552" y="1764792"/>
            <a:ext cx="10094976" cy="2185416"/>
          </a:xfrm>
          <a:prstGeom prst="rect">
            <a:avLst/>
          </a:prstGeom>
          <a:noFill/>
          <a:ln w="15240">
            <a:solidFill>
              <a:srgbClr val="355D8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674620"/>
            <a:ext cx="987552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0">
                <a:solidFill>
                  <a:srgbClr val="AAB4C8"/>
                </a:solidFill>
                <a:latin typeface="Aptos"/>
              </a:rPr>
              <a:t>Ch?n b?ng so s?nh model: Accuracy | Macro F1 | Weighted F1 | ROC-AUC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572000"/>
            <a:ext cx="9509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F8FAFC"/>
                </a:solidFill>
                <a:latin typeface="Aptos"/>
              </a:rPr>
              <a:t>? Kh?ng ch?n model ch? d?a tr?n Accuracy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8FAFC"/>
                </a:solidFill>
                <a:latin typeface="Aptos"/>
              </a:rPr>
              <a:t>? ?u ti?n Macro F1, recall l?p t?n c?ng v? t? l? c?nh b?o gi?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8FAFC"/>
                </a:solidFill>
                <a:latin typeface="Aptos"/>
              </a:rPr>
              <a:t>? M? h?nh tri?n khai ???c l?u th?nh selected_model.pkl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85953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F8FAFC"/>
                </a:solidFill>
                <a:latin typeface="Aptos Display"/>
              </a:rPr>
              <a:t>M? h?nh demo hai m?y ?o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41832"/>
            <a:ext cx="86868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AAB4C8"/>
                </a:solidFill>
                <a:latin typeface="Aptos"/>
              </a:rPr>
              <a:t>Attacker sinh l?u l??ng, m?y n?n nh?n ph?t hi?n v? ng?n ch?n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61872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0">
                <a:solidFill>
                  <a:srgbClr val="64748B"/>
                </a:solidFill>
                <a:latin typeface="Aptos"/>
              </a:rPr>
              <a:t>DDoS IDS/IPS s? d?ng h?c m?y  | 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3840480" cy="205740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294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37360"/>
            <a:ext cx="64008" cy="2057400"/>
          </a:xfrm>
          <a:prstGeom prst="rect">
            <a:avLst/>
          </a:prstGeom>
          <a:solidFill>
            <a:srgbClr val="FF3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83664"/>
            <a:ext cx="35204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1">
                <a:solidFill>
                  <a:srgbClr val="F8FAFC"/>
                </a:solidFill>
                <a:latin typeface="Aptos"/>
              </a:rPr>
              <a:t>Attacker VM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40280"/>
            <a:ext cx="3520440" cy="1463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AAB4C8"/>
                </a:solidFill>
                <a:latin typeface="Aptos"/>
              </a:rPr>
              <a:t>Ch?y ddos_traffic_generator.py</a:t>
            </a:r>
            <a:br/>
            <a:r>
              <a:rPr sz="1400" b="0">
                <a:solidFill>
                  <a:srgbClr val="AAB4C8"/>
                </a:solidFill>
                <a:latin typeface="Aptos"/>
              </a:rPr>
              <a:t>Sinh benign, SYN, UDP, UDP-Lag, LDAP, MSSQL, NetBIOS</a:t>
            </a:r>
            <a:br/>
            <a:r>
              <a:rPr sz="1400" b="0">
                <a:solidFill>
                  <a:srgbClr val="AAB4C8"/>
                </a:solidFill>
                <a:latin typeface="Aptos"/>
              </a:rPr>
              <a:t>Gi? l?p 5 IP ngu?n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1737360"/>
            <a:ext cx="3840480" cy="205740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294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0" y="1737360"/>
            <a:ext cx="64008" cy="2057400"/>
          </a:xfrm>
          <a:prstGeom prst="rect">
            <a:avLst/>
          </a:prstGeom>
          <a:solidFill>
            <a:srgbClr val="35D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79" y="1883664"/>
            <a:ext cx="35204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1">
                <a:solidFill>
                  <a:srgbClr val="F8FAFC"/>
                </a:solidFill>
                <a:latin typeface="Aptos"/>
              </a:rPr>
              <a:t>M?y n?n nh?n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2240280"/>
            <a:ext cx="3520440" cy="1463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AAB4C8"/>
                </a:solidFill>
                <a:latin typeface="Aptos"/>
              </a:rPr>
              <a:t>Ch?y live_ips.py</a:t>
            </a:r>
            <a:br/>
            <a:r>
              <a:rPr sz="1400" b="0">
                <a:solidFill>
                  <a:srgbClr val="AAB4C8"/>
                </a:solidFill>
                <a:latin typeface="Aptos"/>
              </a:rPr>
              <a:t>B?t g?i, tr?ch xu?t feature, d? ?o?n ML</a:t>
            </a:r>
            <a:br/>
            <a:r>
              <a:rPr sz="1400" b="0">
                <a:solidFill>
                  <a:srgbClr val="AAB4C8"/>
                </a:solidFill>
                <a:latin typeface="Aptos"/>
              </a:rPr>
              <a:t>Dashboard, popup, firewall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286000"/>
            <a:ext cx="17373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700" b="1">
                <a:solidFill>
                  <a:srgbClr val="00D4FF"/>
                </a:solidFill>
                <a:latin typeface="Aptos"/>
              </a:rPr>
              <a:t>Host-only Network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743200"/>
            <a:ext cx="100584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4800" b="1">
                <a:solidFill>
                  <a:srgbClr val="00D4FF"/>
                </a:solidFill>
                <a:latin typeface="Aptos"/>
              </a:rPr>
              <a:t>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4389120"/>
            <a:ext cx="40233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0">
                <a:solidFill>
                  <a:srgbClr val="AAB4C8"/>
                </a:solidFill>
                <a:latin typeface="Aptos"/>
              </a:rPr>
              <a:t>192.168.56.101  ?  192.168.56.103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85953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F8FAFC"/>
                </a:solidFill>
                <a:latin typeface="Aptos Display"/>
              </a:rPr>
              <a:t>K?ch b?n ki?m th?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41832"/>
            <a:ext cx="86868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AAB4C8"/>
                </a:solidFill>
                <a:latin typeface="Aptos"/>
              </a:rPr>
              <a:t>C?c test case ch?nh d?ng trong demo b?o v?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61872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0">
                <a:solidFill>
                  <a:srgbClr val="64748B"/>
                </a:solidFill>
                <a:latin typeface="Aptos"/>
              </a:rPr>
              <a:t>DDoS IDS/IPS s? d?ng h?c m?y  |  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508760"/>
          <a:ext cx="1088136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286000"/>
                <a:gridCol w="3200400"/>
                <a:gridCol w="4480560"/>
              </a:tblGrid>
              <a:tr h="555171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00D4FF"/>
                          </a:solidFill>
                          <a:latin typeface="Aptos"/>
                        </a:rPr>
                        <a:t>M?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00D4FF"/>
                          </a:solidFill>
                          <a:latin typeface="Aptos"/>
                        </a:rPr>
                        <a:t>L?u l??ng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00D4FF"/>
                          </a:solidFill>
                          <a:latin typeface="Aptos"/>
                        </a:rPr>
                        <a:t>M?c ti?u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00D4FF"/>
                          </a:solidFill>
                          <a:latin typeface="Aptos"/>
                        </a:rPr>
                        <a:t>K?t qu? mong ??i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8FAFC"/>
                          </a:solidFill>
                          <a:latin typeface="Aptos"/>
                        </a:rPr>
                        <a:t>TC01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Aptos"/>
                        </a:rPr>
                        <a:t>Benign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Aptos"/>
                        </a:rPr>
                        <a:t>Ki?m tra c?nh b?o gi?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Aptos"/>
                        </a:rPr>
                        <a:t>Kh?ng c?nh b?o / confidence th?p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8FAFC"/>
                          </a:solidFill>
                          <a:latin typeface="Aptos"/>
                        </a:rPr>
                        <a:t>TC02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Aptos"/>
                        </a:rPr>
                        <a:t>TCP SYN Flood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Aptos"/>
                        </a:rPr>
                        <a:t>Ph?t hi?n SYN Flood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Aptos"/>
                        </a:rPr>
                        <a:t>Dashboard hi?n th? attack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8FAFC"/>
                          </a:solidFill>
                          <a:latin typeface="Aptos"/>
                        </a:rPr>
                        <a:t>TC03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Aptos"/>
                        </a:rPr>
                        <a:t>UDP Flood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Aptos"/>
                        </a:rPr>
                        <a:t>Ph?t hi?n UDP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Aptos"/>
                        </a:rPr>
                        <a:t>Log c? nh?n UDP Flood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8FAFC"/>
                          </a:solidFill>
                          <a:latin typeface="Aptos"/>
                        </a:rPr>
                        <a:t>TC04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Aptos"/>
                        </a:rPr>
                        <a:t>LDAP/MSSQL/NetBIOS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Aptos"/>
                        </a:rPr>
                        <a:t>Attack theo c?ng d?ch v?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Aptos"/>
                        </a:rPr>
                        <a:t>Log c? nh?n t??ng ?ng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8FAFC"/>
                          </a:solidFill>
                          <a:latin typeface="Aptos"/>
                        </a:rPr>
                        <a:t>TC05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Aptos"/>
                        </a:rPr>
                        <a:t>Mixed attack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Aptos"/>
                        </a:rPr>
                        <a:t>Nhi?u IP ??ng th?i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Aptos"/>
                        </a:rPr>
                        <a:t>Nhi?u src_ip trong log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55517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8FAFC"/>
                          </a:solidFill>
                          <a:latin typeface="Aptos"/>
                        </a:rPr>
                        <a:t>TC06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Aptos"/>
                        </a:rPr>
                        <a:t>IPS blocking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Aptos"/>
                        </a:rPr>
                        <a:t>Ki?m tra ch?n IP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Aptos"/>
                        </a:rPr>
                        <a:t>iptables c? rule DROP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85953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F8FAFC"/>
                </a:solidFill>
                <a:latin typeface="Aptos Display"/>
              </a:rPr>
              <a:t>C? ch? sinh traffic ki?m th?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41832"/>
            <a:ext cx="86868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AAB4C8"/>
                </a:solidFill>
                <a:latin typeface="Aptos"/>
              </a:rPr>
              <a:t>Script d?ng Scapy ?? t?o c?c g?i theo t?ng k?ch b?n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61872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0">
                <a:solidFill>
                  <a:srgbClr val="64748B"/>
                </a:solidFill>
                <a:latin typeface="Aptos"/>
              </a:rPr>
              <a:t>DDoS IDS/IPS s? d?ng h?c m?y  | 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3383280" cy="150876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294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45920"/>
            <a:ext cx="64008" cy="15087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792224"/>
            <a:ext cx="30632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1">
                <a:solidFill>
                  <a:srgbClr val="F8FAFC"/>
                </a:solidFill>
                <a:latin typeface="Aptos"/>
              </a:rPr>
              <a:t>Ch?y tu?n 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148840"/>
            <a:ext cx="3063240" cy="9143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AAB4C8"/>
                </a:solidFill>
                <a:latin typeface="Aptos"/>
              </a:rPr>
              <a:t>run_all_attacks() ch?y t?ng lo?i l?u l??ng theo pha: benign, SYN, UDP, UDP-Lag, LDAP, MSSQL, NetBIOS.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45920"/>
            <a:ext cx="3383280" cy="150876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294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645920"/>
            <a:ext cx="64008" cy="1508760"/>
          </a:xfrm>
          <a:prstGeom prst="rect">
            <a:avLst/>
          </a:prstGeom>
          <a:solidFill>
            <a:srgbClr val="FFB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792224"/>
            <a:ext cx="30632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1">
                <a:solidFill>
                  <a:srgbClr val="F8FAFC"/>
                </a:solidFill>
                <a:latin typeface="Aptos"/>
              </a:rPr>
              <a:t>Ch?y h?n h?p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148840"/>
            <a:ext cx="3063240" cy="9143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AAB4C8"/>
                </a:solidFill>
                <a:latin typeface="Aptos"/>
              </a:rPr>
              <a:t>run_mixed_attacks() t?o nhi?u lu?ng t?n c?ng ??ng th?i b?ng threading.Thread.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645920"/>
            <a:ext cx="3383280" cy="150876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294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645920"/>
            <a:ext cx="64008" cy="1508760"/>
          </a:xfrm>
          <a:prstGeom prst="rect">
            <a:avLst/>
          </a:prstGeom>
          <a:solidFill>
            <a:srgbClr val="FF3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792224"/>
            <a:ext cx="30632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1">
                <a:solidFill>
                  <a:srgbClr val="F8FAFC"/>
                </a:solidFill>
                <a:latin typeface="Aptos"/>
              </a:rPr>
              <a:t>Gi? l?p nhi?u 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148840"/>
            <a:ext cx="3063240" cy="9143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AAB4C8"/>
                </a:solidFill>
                <a:latin typeface="Aptos"/>
              </a:rPr>
              <a:t>Danh s?ch 10.10.1.10 - 10.10.1.14 ???c g?n v?o IP source ?? ki?m th? log v? IPS.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11680" y="3703320"/>
            <a:ext cx="8046720" cy="1325880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294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176272" y="3867911"/>
            <a:ext cx="7717536" cy="996695"/>
          </a:xfrm>
          <a:prstGeom prst="rect">
            <a:avLst/>
          </a:prstGeom>
          <a:noFill/>
          <a:ln w="15240">
            <a:solidFill>
              <a:srgbClr val="355D8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86000" y="4183379"/>
            <a:ext cx="74980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0">
                <a:solidFill>
                  <a:srgbClr val="AAB4C8"/>
                </a:solidFill>
                <a:latin typeface="Aptos"/>
              </a:rPr>
              <a:t>Ch?n ?nh code run_all_attacks / run_mixed_attacks / spoof source IP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85953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F8FAFC"/>
                </a:solidFill>
                <a:latin typeface="Aptos Display"/>
              </a:rPr>
              <a:t>K?t qu? demo IDS/IPS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41832"/>
            <a:ext cx="86868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AAB4C8"/>
                </a:solidFill>
                <a:latin typeface="Aptos"/>
              </a:rPr>
              <a:t>?nh th?c nghi?m tr??c, trong v? sau khi b? t?n c?ng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61872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0">
                <a:solidFill>
                  <a:srgbClr val="64748B"/>
                </a:solidFill>
                <a:latin typeface="Aptos"/>
              </a:rPr>
              <a:t>DDoS IDS/IPS s? d?ng h?c m?y  | 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3246120" cy="2240280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294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1" y="1719072"/>
            <a:ext cx="2916936" cy="1911096"/>
          </a:xfrm>
          <a:prstGeom prst="rect">
            <a:avLst/>
          </a:prstGeom>
          <a:noFill/>
          <a:ln w="15240">
            <a:solidFill>
              <a:srgbClr val="355D8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91739"/>
            <a:ext cx="2697479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0">
                <a:solidFill>
                  <a:srgbClr val="AAB4C8"/>
                </a:solidFill>
                <a:latin typeface="Aptos"/>
              </a:rPr>
              <a:t>?nh 1: CPU tr??c t?n c?ng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554480"/>
            <a:ext cx="3246120" cy="2240280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294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45152" y="1719072"/>
            <a:ext cx="2916936" cy="1911096"/>
          </a:xfrm>
          <a:prstGeom prst="rect">
            <a:avLst/>
          </a:prstGeom>
          <a:noFill/>
          <a:ln w="15240">
            <a:solidFill>
              <a:srgbClr val="355D8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2491739"/>
            <a:ext cx="2697479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0">
                <a:solidFill>
                  <a:srgbClr val="AAB4C8"/>
                </a:solidFill>
                <a:latin typeface="Aptos"/>
              </a:rPr>
              <a:t>?nh 2: CPU sau khi t?n c?ng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554480"/>
            <a:ext cx="3246120" cy="2240280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294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85632" y="1719072"/>
            <a:ext cx="2916936" cy="1911096"/>
          </a:xfrm>
          <a:prstGeom prst="rect">
            <a:avLst/>
          </a:prstGeom>
          <a:noFill/>
          <a:ln w="15240">
            <a:solidFill>
              <a:srgbClr val="355D8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2491739"/>
            <a:ext cx="2697479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0">
                <a:solidFill>
                  <a:srgbClr val="AAB4C8"/>
                </a:solidFill>
                <a:latin typeface="Aptos"/>
              </a:rPr>
              <a:t>?nh 3: Popup c?nh b?o v? ch?n 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3891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F8FAFC"/>
                </a:solidFill>
                <a:latin typeface="Aptos"/>
              </a:rPr>
              <a:t>? CPU t?ng khi m?y n?n nh?n x? l? l?u l??ng b?t th??ng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8FAFC"/>
                </a:solidFill>
                <a:latin typeface="Aptos"/>
              </a:rPr>
              <a:t>? Dashboard/log ghi nh?n lo?i t?n c?ng, IP ngu?n, confidence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F8FAFC"/>
                </a:solidFill>
                <a:latin typeface="Aptos"/>
              </a:rPr>
              <a:t>? IPS g?i firewall ?? ch?n IP attacker khi v??t ng??ng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85953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000" b="1">
                <a:solidFill>
                  <a:srgbClr val="F8FAFC"/>
                </a:solidFill>
                <a:latin typeface="Aptos Display"/>
              </a:rPr>
              <a:t>??nh gi? gi?i ph?p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41832"/>
            <a:ext cx="86868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AAB4C8"/>
                </a:solidFill>
                <a:latin typeface="Aptos"/>
              </a:rPr>
              <a:t>T?ng h?p ?u ?i?m v? h?n ch? sau th?c nghi?m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61872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0">
                <a:solidFill>
                  <a:srgbClr val="64748B"/>
                </a:solidFill>
                <a:latin typeface="Aptos"/>
              </a:rPr>
              <a:t>DDoS IDS/IPS s? d?ng h?c m?y  | 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91640"/>
            <a:ext cx="4663440" cy="301752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294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691640"/>
            <a:ext cx="64008" cy="3017520"/>
          </a:xfrm>
          <a:prstGeom prst="rect">
            <a:avLst/>
          </a:prstGeom>
          <a:solidFill>
            <a:srgbClr val="35D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37944"/>
            <a:ext cx="43434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1">
                <a:solidFill>
                  <a:srgbClr val="F8FAFC"/>
                </a:solidFill>
                <a:latin typeface="Aptos"/>
              </a:rPr>
              <a:t>?u ?i?m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94560"/>
            <a:ext cx="4343400" cy="2423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AAB4C8"/>
                </a:solidFill>
                <a:latin typeface="Aptos"/>
              </a:rPr>
              <a:t>? Pipeline ??y ?? t? train ??n live demo</a:t>
            </a:r>
            <a:br/>
            <a:r>
              <a:rPr sz="1400" b="0">
                <a:solidFill>
                  <a:srgbClr val="AAB4C8"/>
                </a:solidFill>
                <a:latin typeface="Aptos"/>
              </a:rPr>
              <a:t>? B?t traffic th?t trong m?i tr??ng lab</a:t>
            </a:r>
            <a:br/>
            <a:r>
              <a:rPr sz="1400" b="0">
                <a:solidFill>
                  <a:srgbClr val="AAB4C8"/>
                </a:solidFill>
                <a:latin typeface="Aptos"/>
              </a:rPr>
              <a:t>? C? dashboard, log, popup v? IPS blocking</a:t>
            </a:r>
            <a:br/>
            <a:r>
              <a:rPr sz="1400" b="0">
                <a:solidFill>
                  <a:srgbClr val="AAB4C8"/>
                </a:solidFill>
                <a:latin typeface="Aptos"/>
              </a:rPr>
              <a:t>? H? tr? mixed attack nhi?u IP gi? l?p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691640"/>
            <a:ext cx="4663440" cy="301752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294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691640"/>
            <a:ext cx="64008" cy="3017520"/>
          </a:xfrm>
          <a:prstGeom prst="rect">
            <a:avLst/>
          </a:prstGeom>
          <a:solidFill>
            <a:srgbClr val="FFB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837944"/>
            <a:ext cx="43434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1">
                <a:solidFill>
                  <a:srgbClr val="F8FAFC"/>
                </a:solidFill>
                <a:latin typeface="Aptos"/>
              </a:rPr>
              <a:t>H?n ch?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194560"/>
            <a:ext cx="4343400" cy="2423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AAB4C8"/>
                </a:solidFill>
                <a:latin typeface="Aptos"/>
              </a:rPr>
              <a:t>? Demo trong lab, ch?a ph?i Internet th?t</a:t>
            </a:r>
            <a:br/>
            <a:r>
              <a:rPr sz="1400" b="0">
                <a:solidFill>
                  <a:srgbClr val="AAB4C8"/>
                </a:solidFill>
                <a:latin typeface="Aptos"/>
              </a:rPr>
              <a:t>? ?? ch?nh x?c live ph? thu?c feature extraction</a:t>
            </a:r>
            <a:br/>
            <a:r>
              <a:rPr sz="1400" b="0">
                <a:solidFill>
                  <a:srgbClr val="AAB4C8"/>
                </a:solidFill>
                <a:latin typeface="Aptos"/>
              </a:rPr>
              <a:t>? Ch?n theo IP c?n h?n ch? khi IP b? gi? m?o</a:t>
            </a:r>
            <a:br/>
            <a:r>
              <a:rPr sz="1400" b="0">
                <a:solidFill>
                  <a:srgbClr val="AAB4C8"/>
                </a:solidFill>
                <a:latin typeface="Aptos"/>
              </a:rPr>
              <a:t>? Tr?ch xu?t flow theo c?a s? c? ?? tr?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257800"/>
            <a:ext cx="98755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700" b="1">
                <a:solidFill>
                  <a:srgbClr val="00D4FF"/>
                </a:solidFill>
                <a:latin typeface="Aptos"/>
              </a:rPr>
              <a:t>Th?ng ?i?p ch?nh: h? th?ng ch?ng minh ???c kh? n?ng ph?t hi?n v? ph?n ?ng t? ??ng trong ph?m vi ?? ?n.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